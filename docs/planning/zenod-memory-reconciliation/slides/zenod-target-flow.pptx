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8e42dfa18841cf" /><Relationship Type="http://schemas.openxmlformats.org/officeDocument/2006/relationships/extended-properties" Target="/docProps/app.xml" Id="Re209b6c38bbb4082" /><Relationship Type="http://schemas.openxmlformats.org/officeDocument/2006/relationships/officeDocument" Target="/ppt/presentation.xml" Id="Re9c10b0f113943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f772a2781c46d5"/>
  </p:sldMasterIdLst>
  <p:notesMasterIdLst>
    <p:notesMasterId xmlns:r="http://schemas.openxmlformats.org/officeDocument/2006/relationships" r:id="R38eca2e6452d4185"/>
  </p:notesMasterIdLst>
  <p:sldIdLst>
    <p:sldId xmlns:r="http://schemas.openxmlformats.org/officeDocument/2006/relationships" id="256" r:id="Rea68ada4342e424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25954b50cda4519" /><Relationship Type="http://schemas.openxmlformats.org/officeDocument/2006/relationships/slideMaster" Target="/ppt/slideMasters/slideMaster1.xml" Id="R5ef772a2781c46d5" /><Relationship Type="http://schemas.openxmlformats.org/officeDocument/2006/relationships/notesMaster" Target="/ppt/notesMasters/notesMaster1.xml" Id="R38eca2e6452d4185" /><Relationship Type="http://schemas.openxmlformats.org/officeDocument/2006/relationships/presProps" Target="/ppt/presProps.xml" Id="R9f398bace311489a" /><Relationship Type="http://schemas.openxmlformats.org/officeDocument/2006/relationships/tableStyles" Target="/ppt/tableStyles.xml" Id="Re455dead9f5c49e5" /><Relationship Type="http://schemas.openxmlformats.org/officeDocument/2006/relationships/slide" Target="/ppt/slides/slide1.xml" Id="Rea68ada4342e42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2052e87a84344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2dcf7bef65d48be" /><Relationship Type="http://schemas.openxmlformats.org/officeDocument/2006/relationships/notesMaster" Target="/ppt/notesMasters/notesMaster1.xml" Id="R9c9690b5bed94a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Target architecture, 13 September 2026. Existing means implementation exists, not that every capture passes. Current main inspected: 4b90068c27d0b59705d4a6c9584d2f0ba947dcd7. Source: packages/server/src/taskJobQueue.ts (archive, capture, enqueue enrichment); packages/core/src/engine/engine.ts (captureEvidence, enrichEvidence, fileTopicAssignments); packages/core/src/engine/meaningNotes.ts (candidatePages and focused composition). Actual September 13 filing receipt e-0bf52b shows capture with unresolved substantive topics. Examples are illustrative and not a claim that the real capture included a housing correction. Existing citations, fact history and focused updates support the final stage; the unified minimal-change contract remains proposed. Supporting research and limitations: ../README.md. Conceptual source: https://gist.github.com/karpathy/442a6bf555914893e9891c11519de94f . No one-second latency promise or delivery estimate.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84c96a64cf45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106a0d1b4b40e1" /><Relationship Type="http://schemas.openxmlformats.org/officeDocument/2006/relationships/slideLayout" Target="/ppt/slideLayouts/slideLayout1.xml" Id="Rdb3e51cb74a048d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3e51cb74a048d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8a91ad1bc4b0c" /><Relationship Type="http://schemas.openxmlformats.org/officeDocument/2006/relationships/notesSlide" Target="/ppt/notesSlides/notesSlide1.xml" Id="Rd6bb20f1953743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E784D9-5259-40E7-AE18-3DEF78F2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3716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Voice notes into a living brain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BB2A1-F222-476F-8688-E2ECCF5F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90625"/>
            <a:ext cx="1381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664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66460"/>
                </a:solidFill>
                <a:latin typeface="Helvetica Neue"/>
                <a:ea typeface="Helvetica Neue"/>
                <a:cs typeface="Helvetica Neue"/>
              </a:rPr>
              <a:t>One preserved source can update several ideas across different branches.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34682-0AA5-4246-A980-14C15E58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266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1  Preserve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4C6B3-E984-4D4F-8AE7-A0C40D0B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002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2  Identify ideas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20491A-1C78-43C8-9D55-DD56F5B1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3  Find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646E6F-040B-47C9-AA00-7DCB8045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000250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4  Make a small change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35D35D-55DE-4F5D-A377-A3D75C40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37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7864"/>
                </a:solidFill>
                <a:latin typeface="Helvetica Neue"/>
                <a:ea typeface="Helvetica Neue"/>
                <a:cs typeface="Helvetica Neue"/>
              </a:rPr>
              <a:t>EXISTS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61BBC-15CD-4865-ABBC-F10EFA86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5050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C65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C6526"/>
                </a:solidFill>
                <a:latin typeface="Helvetica Neue"/>
                <a:ea typeface="Helvetica Neue"/>
                <a:cs typeface="Helvetica Neue"/>
              </a:rPr>
              <a:t>EXISTS, NEEDS REPAIR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4A18E-0B71-4D43-9920-81BF3FB7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05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9C65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9C6526"/>
                </a:solidFill>
                <a:latin typeface="Helvetica Neue"/>
                <a:ea typeface="Helvetica Neue"/>
                <a:cs typeface="Helvetica Neue"/>
              </a:rPr>
              <a:t>PARTIAL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2D1BA4-1250-4FF4-887F-E63C302B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77177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6753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67538B"/>
                </a:solidFill>
                <a:latin typeface="Helvetica Neue"/>
                <a:ea typeface="Helvetica Neue"/>
                <a:cs typeface="Helvetica Neue"/>
              </a:rPr>
              <a:t>TARGET CONTRACT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49FCB-610F-4395-9608-8C47C3BC6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26670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Original audio</a:t>
            </a:r>
          </a:p>
          <a:p xmlns:a="http://schemas.openxmlformats.org/drawingml/2006/main">
            <a:pPr>
              <a:defRPr sz="217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Separate transcript</a:t>
            </a:r>
          </a:p>
          <a:p xmlns:a="http://schemas.openxmlformats.org/drawingml/2006/main">
            <a:pPr>
              <a:defRPr sz="217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Log entry linking both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13CDA4-A302-4D93-8600-CD7E868D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2667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37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37864"/>
                </a:solidFill>
                <a:latin typeface="Helvetica Neue"/>
                <a:ea typeface="Helvetica Neue"/>
                <a:cs typeface="Helvetica Neue"/>
              </a:rPr>
              <a:t>Saved before</a:t>
            </a:r>
          </a:p>
          <a:p xmlns:a="http://schemas.openxmlformats.org/drawingml/2006/main">
            <a:pPr>
              <a:defRPr sz="1800" b="1">
                <a:solidFill>
                  <a:srgbClr val="237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37864"/>
                </a:solidFill>
                <a:latin typeface="Helvetica Neue"/>
                <a:ea typeface="Helvetica Neue"/>
                <a:cs typeface="Helvetica Neue"/>
              </a:rPr>
              <a:t>background filing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4D3598-17A9-4A7A-9BBE-1FC3C308A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57600"/>
            <a:ext cx="247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E5A501-90F5-4E43-B07F-C7E56989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57600"/>
            <a:ext cx="0" cy="1752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2B4703-BA46-4FF1-A41D-41CE857CA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4102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91163-876E-4FA6-BA52-DA6C2BF3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533900"/>
            <a:ext cx="133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85657D-9003-4AC7-8AA4-3433BF00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575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Logarithms as</a:t>
            </a:r>
          </a:p>
          <a:p xmlns:a="http://schemas.openxmlformats.org/drawingml/2006/main">
            <a:pPr>
              <a:def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magnitudes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8E5D87-DFC9-484D-8238-75767C9C2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909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BD370B-01AB-4576-BEC3-D35F588F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57550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PatronBTC / Video</a:t>
            </a:r>
          </a:p>
          <a:p xmlns:a="http://schemas.openxmlformats.org/drawingml/2006/main">
            <a:pPr>
              <a:def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Existing explanation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1181C-979D-42D2-A4D2-614C7B90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5909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06A6B6-3A08-4C39-898E-BA956CDA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57550"/>
            <a:ext cx="328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37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37864"/>
                </a:solidFill>
                <a:latin typeface="Helvetica Neue"/>
                <a:ea typeface="Helvetica Neue"/>
                <a:cs typeface="Helvetica Neue"/>
              </a:rPr>
              <a:t>LINK SOURCE</a:t>
            </a:r>
          </a:p>
          <a:p xmlns:a="http://schemas.openxmlformats.org/drawingml/2006/main">
            <a:pPr>
              <a:defRPr sz="1950" b="0">
                <a:solidFill>
                  <a:srgbClr val="237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37864"/>
                </a:solidFill>
                <a:latin typeface="Helvetica Neue"/>
                <a:ea typeface="Helvetica Neue"/>
                <a:cs typeface="Helvetica Neue"/>
              </a:rPr>
              <a:t>Already 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DF30E6-F6FE-4758-A2CA-4DFB33AF9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2910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Airport-network</a:t>
            </a:r>
          </a:p>
          <a:p xmlns:a="http://schemas.openxmlformats.org/drawingml/2006/main">
            <a:pPr>
              <a:def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example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B369E-9626-41E3-B261-80439FC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6247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76486B-9273-404F-9896-0F35B639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PatronBTC / Video</a:t>
            </a:r>
          </a:p>
          <a:p xmlns:a="http://schemas.openxmlformats.org/drawingml/2006/main">
            <a:pPr>
              <a:def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Relevant examples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C0072B-DB85-483A-9E65-B1CE5324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56247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58E0D-F135-4441-9D49-F7FFF6CD3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229100"/>
            <a:ext cx="328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ADD</a:t>
            </a:r>
          </a:p>
          <a:p xmlns:a="http://schemas.openxmlformats.org/drawingml/2006/main">
            <a:pPr>
              <a:def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One cited bullet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75192-2296-46D7-B9C4-177AB749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2006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Revised renovation</a:t>
            </a:r>
          </a:p>
          <a:p xmlns:a="http://schemas.openxmlformats.org/drawingml/2006/main">
            <a:pPr>
              <a:def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budget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C89A9-83CF-488F-8B64-61C62034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34025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24622E-C852-4BDF-9B1B-E8079D72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00650"/>
            <a:ext cx="323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Housing / Renovation</a:t>
            </a:r>
          </a:p>
          <a:p xmlns:a="http://schemas.openxmlformats.org/drawingml/2006/main">
            <a:pPr>
              <a:def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Current budget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20DC01-CCEE-4709-A5A4-D2FFCCE1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5534025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DB05C2-FB9C-4773-8E70-228348C5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00650"/>
            <a:ext cx="32861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CORRECT</a:t>
            </a:r>
          </a:p>
          <a:p xmlns:a="http://schemas.openxmlformats.org/drawingml/2006/main">
            <a:pPr>
              <a:def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Keep prior history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FAFB98A-97E5-4BE5-A11B-94EC5FF8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19825"/>
            <a:ext cx="1400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9B5AE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889FD0-1E37-458E-8D22-5CEBB576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4001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Every change cites its source passage. Unclear ideas stay pending without blocking clear ones.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B909EF-BB85-4966-A8EB-3EE37E151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19950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3786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237864"/>
                </a:solidFill>
                <a:latin typeface="Helvetica Neue"/>
                <a:ea typeface="Helvetica Neue"/>
                <a:cs typeface="Helvetica Neue"/>
              </a:rPr>
              <a:t>COST CONTROL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1C2A490-DF69-4470-82EA-E33BFB04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124700"/>
            <a:ext cx="1143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202A2B"/>
                </a:solidFill>
                <a:latin typeface="Helvetica Neue"/>
                <a:ea typeface="Helvetica Neue"/>
                <a:cs typeface="Helvetica Neue"/>
              </a:rPr>
              <a:t>Read each branch once. Batch its ideas. Return only the change.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5549A4-E6E0-4217-8D01-C4D0C89B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29550"/>
            <a:ext cx="1400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46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66460"/>
                </a:solidFill>
                <a:latin typeface="Helvetica Neue"/>
                <a:ea typeface="Helvetica Neue"/>
                <a:cs typeface="Helvetica Neue"/>
              </a:rPr>
              <a:t>Current gap: dependable source mapping, complete branch discovery and minimal-change decisions.</a:t>
            </a:r>
          </a:p>
        </p:txBody>
      </p:sp>
    </p:spTree>
    <p:extLst>
      <p:ext uri="{BB962C8B-B14F-4D97-AF65-F5344CB8AC3E}">
        <p14:creationId xmlns:p14="http://schemas.microsoft.com/office/powerpoint/2010/main" val="451502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2026-09-13T16:06:33.8390000Z</dcterms:created>
  <dcterms:modified xsi:type="dcterms:W3CDTF">2026-09-13T16:06:33.8390000Z</dcterms:modified>
</coreProperties>
</file>